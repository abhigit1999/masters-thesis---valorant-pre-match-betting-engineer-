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1" r:id="rId7"/>
    <p:sldId id="260" r:id="rId8"/>
    <p:sldId id="262" r:id="rId9"/>
    <p:sldId id="268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5F531-8CBF-4B77-8AFE-DF60C20DC7B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C4F55-7D32-4F26-B1BE-930B78856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2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C4F55-7D32-4F26-B1BE-930B788564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5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methodology is a customized version of CRISP-DM, tailored as per project. 8 step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C4F55-7D32-4F26-B1BE-930B788564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13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3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1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8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4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45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0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5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3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96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4606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78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24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3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6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15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Valorant Esports Pre-Match Betting Advisory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400" dirty="0"/>
              <a:t>Using Machine Learning to Predict Winning Probabilities and </a:t>
            </a:r>
            <a:r>
              <a:rPr lang="en-US" sz="1400" dirty="0"/>
              <a:t>Simulate Odds and Earning Projections.</a:t>
            </a:r>
            <a:endParaRPr sz="1400" dirty="0"/>
          </a:p>
          <a:p>
            <a:r>
              <a:rPr sz="1400" dirty="0"/>
              <a:t>Author: Abhishek Mahendra Pawar</a:t>
            </a:r>
          </a:p>
          <a:p>
            <a:r>
              <a:rPr sz="1400" dirty="0"/>
              <a:t>Institution: National College of Ireland</a:t>
            </a:r>
          </a:p>
          <a:p>
            <a:r>
              <a:rPr sz="1400" dirty="0"/>
              <a:t>Date: December 12,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649691"/>
            <a:ext cx="7511472" cy="459870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ea typeface="Arial" panose="020B0604020202020204" pitchFamily="34" charset="0"/>
              </a:rPr>
              <a:t>Esports means electronic sport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ea typeface="Arial" panose="020B0604020202020204" pitchFamily="34" charset="0"/>
              </a:rPr>
              <a:t>Over the last few years, the esports world has seen significant growth and Valorant has become the most popular competitive game.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Valorant was developed by Riot Game in 2020 it’s an FPS game.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ea typeface="Arial" panose="020B0604020202020204" pitchFamily="34" charset="0"/>
              </a:rPr>
              <a:t>World esports revenue surpasses  $1.5 billion in 2023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the rapid growth of the betting industry, betting platforms have started to take advantage of this opportunity and are offering bets on professional </a:t>
            </a:r>
            <a:r>
              <a:rPr lang="en-US" dirty="0" err="1"/>
              <a:t>valorant</a:t>
            </a:r>
            <a:r>
              <a:rPr lang="en-US" dirty="0"/>
              <a:t> matches such as VCT (VALORANT Champions Tour). </a:t>
            </a:r>
            <a:endParaRPr lang="en-US" dirty="0">
              <a:effectLst/>
              <a:ea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Esports have a unique fast-changing 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majority of esports betting platforms depend on simple odds calculation methods such as basic statistical or manual calculation. </a:t>
            </a:r>
          </a:p>
          <a:p>
            <a:r>
              <a:rPr lang="en-US" dirty="0"/>
              <a:t>These approaches fail to consider all the important factors that could influence the match results like team selection, map, player’s stats, and recent performance as a team.</a:t>
            </a:r>
          </a:p>
          <a:p>
            <a:r>
              <a:rPr lang="en-US" dirty="0"/>
              <a:t>Research question: How machine learning and deep learning models can be utilized to predict match results and generate simulated odds for Valorant, providing bettors with accurate probability-based information and earnings projections?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493C-3C95-8967-F045-8078CF2B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49E74-22BA-4034-5661-F9E6F85B7AC9}"/>
              </a:ext>
            </a:extLst>
          </p:cNvPr>
          <p:cNvSpPr txBox="1"/>
          <p:nvPr/>
        </p:nvSpPr>
        <p:spPr>
          <a:xfrm>
            <a:off x="1461155" y="2003706"/>
            <a:ext cx="66930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Develop a Valorant </a:t>
            </a:r>
            <a:r>
              <a:rPr lang="en-US" dirty="0" err="1"/>
              <a:t>PreMatch</a:t>
            </a:r>
            <a:r>
              <a:rPr lang="en-US" dirty="0"/>
              <a:t> Betting Advisory System using machine learning algorithms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Collecting and preprocessing historic data such as match data, player statistics, map performance, and team data.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Building and compare the performance of multiple machine learning algorithms.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Deploying the best model for predicting match outcomes and betting odds.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Creating a user interface that allows bettors to input team selections and get predictions and earnings projections. </a:t>
            </a:r>
          </a:p>
        </p:txBody>
      </p:sp>
    </p:spTree>
    <p:extLst>
      <p:ext uri="{BB962C8B-B14F-4D97-AF65-F5344CB8AC3E}">
        <p14:creationId xmlns:p14="http://schemas.microsoft.com/office/powerpoint/2010/main" val="280081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E24E0B-63F1-065C-E642-939F14145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4974" y="1655978"/>
            <a:ext cx="7545694" cy="450915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Specification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89D26-F98A-A5A8-5A13-3A2C5943B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70428"/>
            <a:ext cx="7764463" cy="398230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5" y="609600"/>
            <a:ext cx="7902473" cy="1190920"/>
          </a:xfrm>
        </p:spPr>
        <p:txBody>
          <a:bodyPr>
            <a:normAutofit fontScale="90000"/>
          </a:bodyPr>
          <a:lstStyle/>
          <a:p>
            <a:r>
              <a:rPr dirty="0"/>
              <a:t>Data Collection</a:t>
            </a:r>
            <a:r>
              <a:rPr lang="en-US" dirty="0"/>
              <a:t>, </a:t>
            </a:r>
            <a:r>
              <a:rPr dirty="0"/>
              <a:t>Processing</a:t>
            </a:r>
            <a:r>
              <a:rPr lang="en-US" dirty="0"/>
              <a:t> And Synthetic data generation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648932"/>
            <a:ext cx="7765322" cy="3142269"/>
          </a:xfrm>
        </p:spPr>
        <p:txBody>
          <a:bodyPr/>
          <a:lstStyle/>
          <a:p>
            <a:r>
              <a:rPr lang="en-US" dirty="0"/>
              <a:t>Data collection </a:t>
            </a:r>
          </a:p>
          <a:p>
            <a:r>
              <a:rPr lang="en-US" dirty="0"/>
              <a:t>Data merging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Synthetic data generation using CTGAN and GMM</a:t>
            </a:r>
          </a:p>
          <a:p>
            <a:r>
              <a:rPr lang="en-US" dirty="0"/>
              <a:t> Finally, uploading datasets in MongoDB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Aggregating  </a:t>
            </a:r>
            <a:r>
              <a:rPr lang="en-US" dirty="0" err="1"/>
              <a:t>player_level_data</a:t>
            </a:r>
            <a:r>
              <a:rPr lang="en-US" dirty="0"/>
              <a:t> such as team performance, such as a sum of kills, the sum of deaths, total assists, mean of average combat score (ACS), mean of headshot percentage, and total first blood</a:t>
            </a:r>
          </a:p>
          <a:p>
            <a:r>
              <a:rPr lang="en-US" dirty="0"/>
              <a:t>Aggregating and combining data from several databases </a:t>
            </a:r>
            <a:r>
              <a:rPr lang="en-US" dirty="0" err="1"/>
              <a:t>player_level_data</a:t>
            </a:r>
            <a:r>
              <a:rPr lang="en-US" dirty="0"/>
              <a:t>, </a:t>
            </a:r>
            <a:r>
              <a:rPr lang="en-US" dirty="0" err="1"/>
              <a:t>map_performance</a:t>
            </a:r>
            <a:r>
              <a:rPr lang="en-US" dirty="0"/>
              <a:t>, </a:t>
            </a:r>
            <a:r>
              <a:rPr lang="en-US" dirty="0" err="1"/>
              <a:t>Match_Data</a:t>
            </a:r>
            <a:r>
              <a:rPr lang="en-US" dirty="0"/>
              <a:t> and </a:t>
            </a:r>
            <a:r>
              <a:rPr lang="en-US" dirty="0" err="1"/>
              <a:t>simulated_odds</a:t>
            </a:r>
            <a:r>
              <a:rPr lang="en-US" dirty="0"/>
              <a:t> to create </a:t>
            </a:r>
            <a:r>
              <a:rPr lang="en-US" dirty="0" err="1"/>
              <a:t>superdataset</a:t>
            </a:r>
            <a:endParaRPr lang="en-US" dirty="0"/>
          </a:p>
          <a:p>
            <a:pPr marL="369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D6FE-2987-15F0-2D33-F951957A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0D4FC-F13B-811E-BA8B-66A085B33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Firstly, the best features from the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superdataset</a:t>
            </a: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were chosen for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modeling</a:t>
            </a: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.</a:t>
            </a:r>
          </a:p>
          <a:p>
            <a:r>
              <a:rPr lang="en-GB" sz="1800" dirty="0" err="1">
                <a:effectLst/>
                <a:latin typeface="Times New Roman" panose="02020603050405020304" pitchFamily="18" charset="0"/>
              </a:rPr>
              <a:t>LabelEncoder</a:t>
            </a:r>
            <a:r>
              <a:rPr lang="en-GB" sz="1800" dirty="0">
                <a:effectLst/>
                <a:latin typeface="Times New Roman" panose="02020603050405020304" pitchFamily="18" charset="0"/>
              </a:rPr>
              <a:t> was used to convert text data into numerical data. And </a:t>
            </a:r>
            <a:r>
              <a:rPr lang="en-GB" sz="1800" dirty="0" err="1">
                <a:effectLst/>
                <a:latin typeface="Times New Roman" panose="02020603050405020304" pitchFamily="18" charset="0"/>
              </a:rPr>
              <a:t>standardscaler</a:t>
            </a:r>
            <a:r>
              <a:rPr lang="en-GB" sz="1800" dirty="0">
                <a:effectLst/>
                <a:latin typeface="Times New Roman" panose="02020603050405020304" pitchFamily="18" charset="0"/>
              </a:rPr>
              <a:t> was used to standardize all features for </a:t>
            </a:r>
            <a:r>
              <a:rPr lang="en-GB" sz="1800" dirty="0" err="1">
                <a:effectLst/>
                <a:latin typeface="Times New Roman" panose="02020603050405020304" pitchFamily="18" charset="0"/>
              </a:rPr>
              <a:t>modeling</a:t>
            </a:r>
            <a:r>
              <a:rPr lang="en-GB" sz="1800" dirty="0">
                <a:effectLst/>
                <a:latin typeface="Times New Roman" panose="02020603050405020304" pitchFamily="18" charset="0"/>
              </a:rPr>
              <a:t>.</a:t>
            </a:r>
          </a:p>
          <a:p>
            <a:r>
              <a:rPr lang="en-GB" sz="1800" dirty="0">
                <a:effectLst/>
                <a:latin typeface="Times New Roman" panose="02020603050405020304" pitchFamily="18" charset="0"/>
              </a:rPr>
              <a:t>Data is split into 80:20 for train and test.</a:t>
            </a:r>
          </a:p>
          <a:p>
            <a:r>
              <a:rPr lang="en-GB" sz="1800" dirty="0">
                <a:effectLst/>
                <a:latin typeface="Times New Roman" panose="02020603050405020304" pitchFamily="18" charset="0"/>
              </a:rPr>
              <a:t> multiple machine-learning models were used to predict match outcome. Models such as –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SVM</a:t>
            </a:r>
            <a:r>
              <a:rPr lang="en-GB" sz="18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Logistic Regression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Decision Tree Classifier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KNN, RNN, Hybrid models, etc. </a:t>
            </a:r>
          </a:p>
          <a:p>
            <a:pPr marL="36900" indent="0">
              <a:buNone/>
            </a:pPr>
            <a:endParaRPr lang="en-US" sz="1800" b="1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9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823274"/>
          </a:xfrm>
        </p:spPr>
        <p:txBody>
          <a:bodyPr/>
          <a:lstStyle/>
          <a:p>
            <a:r>
              <a:rPr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432874"/>
            <a:ext cx="7765322" cy="3591613"/>
          </a:xfrm>
        </p:spPr>
        <p:txBody>
          <a:bodyPr/>
          <a:lstStyle/>
          <a:p>
            <a:pPr algn="just"/>
            <a:r>
              <a:rPr lang="en-US" dirty="0"/>
              <a:t>Evaluation </a:t>
            </a:r>
            <a:r>
              <a:rPr dirty="0"/>
              <a:t>Metrics use</a:t>
            </a:r>
            <a:r>
              <a:rPr lang="en-US" dirty="0"/>
              <a:t>d are </a:t>
            </a:r>
            <a:r>
              <a:rPr dirty="0"/>
              <a:t>Accuracy, Precision, Recall, F1-Score, ROC-AUC.</a:t>
            </a:r>
            <a:endParaRPr lang="en-US" dirty="0"/>
          </a:p>
          <a:p>
            <a:pPr algn="just"/>
            <a:r>
              <a:rPr lang="en-US" dirty="0"/>
              <a:t>Out of 13 models top 3 best performing models are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 and hybrid model.</a:t>
            </a:r>
          </a:p>
          <a:p>
            <a:pPr algn="just"/>
            <a:r>
              <a:rPr lang="en-US" dirty="0" err="1"/>
              <a:t>XGBoost</a:t>
            </a:r>
            <a:r>
              <a:rPr lang="en-US" dirty="0"/>
              <a:t> outperforms every model with an accuracy of 73%, F1 of 73%, ROC-AUC of 76%, and precision and recall of 73% on such complex data.</a:t>
            </a:r>
          </a:p>
          <a:p>
            <a:pPr algn="just"/>
            <a:r>
              <a:rPr lang="en-US" dirty="0" err="1"/>
              <a:t>XGBoost</a:t>
            </a:r>
            <a:r>
              <a:rPr lang="en-US" dirty="0"/>
              <a:t> is fast and uses less computation power which makes it the best choice for deployment.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BAE00-009C-4E35-0EF8-37769781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24" y="4824657"/>
            <a:ext cx="7138901" cy="2046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Firstly, we optimized the </a:t>
            </a:r>
            <a:r>
              <a:rPr lang="en-US" dirty="0" err="1"/>
              <a:t>xgboost</a:t>
            </a:r>
            <a:r>
              <a:rPr lang="en-US" dirty="0"/>
              <a:t> model, and then the model was serialized with </a:t>
            </a:r>
            <a:r>
              <a:rPr lang="en-US" dirty="0" err="1"/>
              <a:t>joblib</a:t>
            </a:r>
            <a:r>
              <a:rPr lang="en-US" dirty="0"/>
              <a:t> and converted to BSON so that it could be stored in MongoDB with </a:t>
            </a:r>
            <a:r>
              <a:rPr lang="en-US" dirty="0" err="1"/>
              <a:t>labelencoder</a:t>
            </a:r>
            <a:r>
              <a:rPr lang="en-US" dirty="0"/>
              <a:t> and </a:t>
            </a:r>
            <a:r>
              <a:rPr lang="en-US" dirty="0" err="1"/>
              <a:t>standscaler</a:t>
            </a:r>
            <a:r>
              <a:rPr lang="en-US" dirty="0"/>
              <a:t> for future use.</a:t>
            </a:r>
          </a:p>
          <a:p>
            <a:r>
              <a:rPr lang="en-US" dirty="0"/>
              <a:t>Fetch model from DB and deserialize the model for the deployment.</a:t>
            </a:r>
          </a:p>
          <a:p>
            <a:r>
              <a:rPr lang="en-US" dirty="0"/>
              <a:t> The model is integrated with the application to make real-time predictions.</a:t>
            </a:r>
          </a:p>
          <a:p>
            <a:r>
              <a:rPr lang="en-US" dirty="0"/>
              <a:t>Were model predicts winning Probabilities for both the teams, simulates odd and shows earning projections.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using </a:t>
            </a:r>
            <a:r>
              <a:rPr dirty="0" err="1"/>
              <a:t>Streamlit</a:t>
            </a:r>
            <a:r>
              <a:rPr dirty="0"/>
              <a:t> for simplicity and interactivity.</a:t>
            </a:r>
          </a:p>
          <a:p>
            <a:r>
              <a:rPr dirty="0"/>
              <a:t>Features:</a:t>
            </a:r>
          </a:p>
          <a:p>
            <a:r>
              <a:rPr dirty="0"/>
              <a:t> Input team IDs, map, and bet amount.</a:t>
            </a:r>
          </a:p>
          <a:p>
            <a:r>
              <a:rPr dirty="0"/>
              <a:t> View predictions, </a:t>
            </a:r>
            <a:r>
              <a:rPr lang="en-US" dirty="0"/>
              <a:t>simulated </a:t>
            </a:r>
            <a:r>
              <a:rPr dirty="0"/>
              <a:t>odds, and potential earnings.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CF610-B6F3-B9B6-8AD2-072B6BAF8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27" y="3579101"/>
            <a:ext cx="3918129" cy="2765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7E2EE6-737F-18DD-DC61-2593D4620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524" y="3579101"/>
            <a:ext cx="3918130" cy="2664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Projects help bettors to make wise decision using machine learning</a:t>
            </a:r>
          </a:p>
          <a:p>
            <a:r>
              <a:rPr dirty="0"/>
              <a:t>Future improvements:</a:t>
            </a:r>
          </a:p>
          <a:p>
            <a:r>
              <a:rPr dirty="0"/>
              <a:t> </a:t>
            </a:r>
            <a:r>
              <a:rPr lang="en-US" dirty="0"/>
              <a:t>project framework and techniques that can apply to any competitive Esports games </a:t>
            </a:r>
            <a:r>
              <a:rPr dirty="0"/>
              <a:t>like CS:GO, League of Legends.</a:t>
            </a:r>
          </a:p>
          <a:p>
            <a:r>
              <a:rPr dirty="0"/>
              <a:t> Integrate real-time data fo</a:t>
            </a:r>
            <a:r>
              <a:rPr lang="en-US" dirty="0"/>
              <a:t>r</a:t>
            </a:r>
            <a:r>
              <a:rPr dirty="0"/>
              <a:t> dynamic predictions</a:t>
            </a:r>
            <a:r>
              <a:rPr lang="en-US" dirty="0"/>
              <a:t> or </a:t>
            </a:r>
            <a:r>
              <a:rPr lang="en-US" dirty="0" err="1"/>
              <a:t>api</a:t>
            </a:r>
            <a:r>
              <a:rPr lang="en-US"/>
              <a:t>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214</TotalTime>
  <Words>738</Words>
  <Application>Microsoft Office PowerPoint</Application>
  <PresentationFormat>On-screen Show (4:3)</PresentationFormat>
  <Paragraphs>65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Calisto MT</vt:lpstr>
      <vt:lpstr>Times New Roman</vt:lpstr>
      <vt:lpstr>Wingdings</vt:lpstr>
      <vt:lpstr>Wingdings 2</vt:lpstr>
      <vt:lpstr>Slate</vt:lpstr>
      <vt:lpstr>Valorant Esports Pre-Match Betting Advisory System</vt:lpstr>
      <vt:lpstr>Introduction</vt:lpstr>
      <vt:lpstr>Problem Statement</vt:lpstr>
      <vt:lpstr>Objectives of the Project</vt:lpstr>
      <vt:lpstr>Methodology Overview</vt:lpstr>
      <vt:lpstr>Design Specification</vt:lpstr>
      <vt:lpstr>Data Collection, Processing And Synthetic data generation</vt:lpstr>
      <vt:lpstr>Feature Engineering</vt:lpstr>
      <vt:lpstr>Modeling</vt:lpstr>
      <vt:lpstr>Evaluation</vt:lpstr>
      <vt:lpstr>Deployment</vt:lpstr>
      <vt:lpstr>User Interface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ABHISHEK PAWAR</cp:lastModifiedBy>
  <cp:revision>16</cp:revision>
  <dcterms:created xsi:type="dcterms:W3CDTF">2013-01-27T09:14:16Z</dcterms:created>
  <dcterms:modified xsi:type="dcterms:W3CDTF">2024-12-12T08:40:23Z</dcterms:modified>
  <cp:category/>
</cp:coreProperties>
</file>